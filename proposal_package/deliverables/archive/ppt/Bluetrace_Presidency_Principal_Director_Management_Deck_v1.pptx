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1/18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Strategic Proposal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6309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FFFFFF"/>
                </a:solidFill>
              </a:rPr>
              <a:t>Technology Innovation Partner for Presidency English School, Parbhani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74720"/>
            <a:ext cx="630936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tartup_india_logo_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40" y="3585545"/>
            <a:ext cx="490875" cy="264078"/>
          </a:xfrm>
          <a:prstGeom prst="rect">
            <a:avLst/>
          </a:prstGeom>
        </p:spPr>
      </p:pic>
      <p:pic>
        <p:nvPicPr>
          <p:cNvPr id="15" name="Picture 14" descr="udyam_logo_trim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6348" y="3585545"/>
            <a:ext cx="622536" cy="264078"/>
          </a:xfrm>
          <a:prstGeom prst="rect">
            <a:avLst/>
          </a:prstGeom>
        </p:spPr>
      </p:pic>
      <p:pic>
        <p:nvPicPr>
          <p:cNvPr id="16" name="Picture 15" descr="mca_logo_trimm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4916" y="3585545"/>
            <a:ext cx="808627" cy="26407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22960" y="4023360"/>
            <a:ext cx="6309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5897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324A"/>
                </a:solidFill>
              </a:defRPr>
            </a:pPr>
            <a:r>
              <a:t>• AI for teachers</a:t>
            </a:r>
          </a:p>
          <a:p>
            <a:pPr>
              <a:defRPr sz="1200">
                <a:solidFill>
                  <a:srgbClr val="14324A"/>
                </a:solidFill>
              </a:defRPr>
            </a:pPr>
            <a:r>
              <a:t>• AI excellence for students</a:t>
            </a:r>
          </a:p>
          <a:p>
            <a:pPr>
              <a:defRPr sz="1200">
                <a:solidFill>
                  <a:srgbClr val="14324A"/>
                </a:solidFill>
              </a:defRPr>
            </a:pPr>
            <a:r>
              <a:t>• Robotics and IoT innovation lab</a:t>
            </a:r>
          </a:p>
          <a:p>
            <a:pPr>
              <a:defRPr sz="1200">
                <a:solidFill>
                  <a:srgbClr val="14324A"/>
                </a:solidFill>
              </a:defRPr>
            </a:pPr>
            <a:r>
              <a:t>• Smart campus solutions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18120" y="1600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82880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14324A"/>
                </a:solidFill>
              </a:defRPr>
            </a:pPr>
            <a:r>
              <a:t>Presidency English School already has digital foundations.</a:t>
            </a:r>
          </a:p>
          <a:p>
            <a:pPr>
              <a:spcAft>
                <a:spcPts val="1000"/>
              </a:spcAft>
              <a:defRPr sz="1400">
                <a:solidFill>
                  <a:srgbClr val="14324A"/>
                </a:solidFill>
              </a:defRPr>
            </a:pPr>
            <a:r>
              <a:t>Bluetrace should now position the next layer of differentiation.</a:t>
            </a:r>
          </a:p>
          <a:p>
            <a:pPr>
              <a:spcAft>
                <a:spcPts val="1000"/>
              </a:spcAft>
              <a:defRPr sz="1400">
                <a:solidFill>
                  <a:srgbClr val="14324A"/>
                </a:solidFill>
              </a:defRPr>
            </a:pPr>
            <a:r>
              <a:t>This deck is designed for trustees, management, and principal-level discussion.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Presidency English School Proposal |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2/18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Why This Approach 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3739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3145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The school already has digital boards, internet, online admissions, and online fee payment.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That means the market message should move beyond generic IT services.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The winning story is future-skills, innovation, and measurable student value.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373989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300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Strategic Positioning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3/18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Corporate Credentials and Compliance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1700784"/>
            <a:ext cx="76809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tartup_india_logo_trimm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810" y="1831726"/>
            <a:ext cx="555464" cy="298825"/>
          </a:xfrm>
          <a:prstGeom prst="rect">
            <a:avLst/>
          </a:prstGeom>
        </p:spPr>
      </p:pic>
      <p:pic>
        <p:nvPicPr>
          <p:cNvPr id="15" name="Picture 14" descr="udyam_logo_trimm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5443" y="1831726"/>
            <a:ext cx="704448" cy="298825"/>
          </a:xfrm>
          <a:prstGeom prst="rect">
            <a:avLst/>
          </a:prstGeom>
        </p:spPr>
      </p:pic>
      <p:pic>
        <p:nvPicPr>
          <p:cNvPr id="16" name="Picture 15" descr="mca_logo_trimm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1059" y="1831726"/>
            <a:ext cx="915025" cy="298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2331720"/>
            <a:ext cx="7680960" cy="3520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Bluetrace Technologies Pvt. Ltd. is an incorporated private limited company.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Startup India (DPIIT) recognition and MSME/Udyam credentials are in place.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Incorporation and statutory approvals are maintained for institutional due diligence.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Official company letterhead and supporting compliance records are available on request.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Proposal deck intentionally uses clean credential summaries instead of raw file names.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141732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16916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Trust and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4/18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Priority Focus Areas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Answer management's core question first: why should the school invest now?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Frame value in admissions, parent satisfaction, teacher productivity, and reputation.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Position Bluetrace as a long-term transformation partner, not a software vendor.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Use pilot-to-partnership progression with measurable outcomes.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Priority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5/18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Current Challenges in Schools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Teachers: repetitive planning, worksheets, and paper generation load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Students: limited AI/robotics exposure and low project-based innovation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Parents: scattered communication channels and missed updates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Management: limited analytics and heavy manual 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6/18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Presidency Digital School 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41422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3547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324A"/>
                </a:solidFill>
              </a:defRPr>
            </a:pPr>
            <a:r>
              <a:t>Present as a platform, not only a mobile app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Parent/Student/Teacher apps -&gt; cloud server -&gt; central database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Admin + Principal dashboard for decisions, control, and accountability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One secure digital backbone across communication, academics, and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41422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Platform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7/18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How It Works: End-to-End Operational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Homework: teacher upload -&gt; cloud -&gt; notification -&gt; parent/student -&gt; submission -&gt; review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Attendance: teacher mark -&gt; database sync -&gt; parent alert -&gt; dashboard analytics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Fees: due generation -&gt; reminder -&gt; payment confirmation -&gt; admin ledger update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Circulars/notices: publish -&gt; app push -&gt; SMS/WhatsApp fallback -&gt; acknowledgement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Workflow 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8/18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Role-Based User 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Parent app: attendance, homework, fees, results, circulars, bus tracking, leave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Teacher app: attendance, homework, marks, notices, parent communication, AI worksheet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Student app: assignments, quizzes, videos, portfolio, certificates, innovation tasks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Admin panel: students, teachers, timetable, transport, reports, admissions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Experience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9/18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Optional Differentiator: Smart Wearable Safety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Event-based wearable model for bus boarding, transit, and pickup checkpoints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Parent app receives trusted safety updates without invasive continuous surveillance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Principal dashboard tracks route-level exceptions and response times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Pilot can start with one grade, one route, and policy-aligned consent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Wearable safety use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10/18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Management Dashboard and Decision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41422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3547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Daily attendance trends and class-wise performance visibility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Fee collection status and pending follow-up indicators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Admission enquiry pipeline and parent engagement insights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Teacher activity, bus status, issues, and escalation monitoring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414223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341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Executive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11/18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Notification Backbone (No More Channel Confusion)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324A"/>
                </a:solidFill>
              </a:defRPr>
            </a:pPr>
            <a:r>
              <a:t>School publishes notice once from central panel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App notification reaches right audience instantly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SMS/WhatsApp fallback triggers only when required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Parent acknowledgement becomes measurable and auditable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Reliable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12/18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Student Storyboard for Parent Trust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Story panel 1: parent uncertainty before morning transport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Story panel 2: smart wearable/app confirms safe boarding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Story panel 3: homework and notices delivered in one app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Story panel 4: delay alert and acknowledgement close communication gaps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Story panel 5: pickup confirmation and confidence dashboard outcome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Narrative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13/18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Presidency Vision 2030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2026: Teacher AI productivity + unified communication baseline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2027: Student AI modules and project-based learning scale-up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2028: Robotics/IoT lab with curriculum-linked practical outcomes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2029-2030: Smart campus + AI analytics + innovation center positioning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Long-term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14/18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Revenue / Partnership Models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324A"/>
                </a:solidFill>
              </a:defRPr>
            </a:pPr>
            <a:r>
              <a:t>Teacher training: ₹20,000 - ₹50,000</a:t>
            </a:r>
          </a:p>
          <a:p>
            <a:pPr>
              <a:spcAft>
                <a:spcPts val="800"/>
              </a:spcAft>
              <a:defRPr sz="1800">
                <a:solidFill>
                  <a:srgbClr val="14324A"/>
                </a:solidFill>
              </a:defRPr>
            </a:pPr>
            <a:r>
              <a:t>AI program: ₹500 per student per month</a:t>
            </a:r>
          </a:p>
          <a:p>
            <a:pPr>
              <a:spcAft>
                <a:spcPts val="800"/>
              </a:spcAft>
              <a:defRPr sz="1800">
                <a:solidFill>
                  <a:srgbClr val="14324A"/>
                </a:solidFill>
              </a:defRPr>
            </a:pPr>
            <a:r>
              <a:t>Innovation lab: ₹2 lakh - ₹5 lakh setup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Annual technology partnership: ₹3 lakh - ₹10 lakh per year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Commercial options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15/18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ROI and Outcome Mapping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AI teacher tools -&gt; reduced planning effort and better instructional quality time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Digital platform -&gt; fewer repetitive office calls and faster parent communication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Robotics/AI activities -&gt; stronger STEM profile and practical student outcomes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Dashboard analytics -&gt; better management decisions with integrated school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Investment justification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16/18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90-Day Pilot Implementation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Weeks 1-2: leadership workshop, baseline metrics, and pilot scope signoff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Weeks 3-6: core platform workflows (homework, attendance, communication, fees)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Weeks 7-10: AI modules plus optional wearable safety pilot (single route)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Weeks 11-12: KPI review, board presentation, and annual partnership 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Execution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17/18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Why Bluetrace vs Generic Vendor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Generic vendor: training-only model | Bluetrace: engineering + training model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Generic vendor: standard curriculum | Bluetrace: customized platform + workflows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Generic vendor: limited hardware depth | Bluetrace: STM32, nRF52, ESP32, BLE, PCB, IoT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Generic vendor: one-time engagement | Bluetrace: long-term technology partnership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Differentiation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75520" y="0"/>
            <a:ext cx="2316175" cy="6858000"/>
          </a:xfrm>
          <a:prstGeom prst="rect">
            <a:avLst/>
          </a:prstGeom>
          <a:solidFill>
            <a:srgbClr val="1F8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-182880"/>
            <a:ext cx="2194560" cy="219456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274320"/>
            <a:ext cx="7479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4324A"/>
                </a:solidFill>
              </a:rPr>
              <a:t>Bluetrace Technologies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14324A"/>
                </a:solidFill>
              </a:rPr>
              <a:t>BT-PRESIDENCY-PROPOSAL  |  18/18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822960"/>
            <a:ext cx="11247120" cy="27432"/>
          </a:xfrm>
          <a:prstGeom prst="rect">
            <a:avLst/>
          </a:prstGeom>
          <a:solidFill>
            <a:srgbClr val="C58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8686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Next Step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417320"/>
            <a:ext cx="82296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76809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324A"/>
                </a:solidFill>
              </a:defRPr>
            </a:pPr>
            <a:r>
              <a:t>Use this deck for a chairman/principal meeting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Lead with the free workshop and pilot offer, then storyboard walkthrough</a:t>
            </a:r>
          </a:p>
          <a:p>
            <a:pPr>
              <a:spcAft>
                <a:spcPts val="800"/>
              </a:spcAft>
              <a:defRPr sz="1400">
                <a:solidFill>
                  <a:srgbClr val="14324A"/>
                </a:solidFill>
              </a:defRPr>
            </a:pPr>
            <a:r>
              <a:t>Close with an annual partnership model, not a one-off project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1488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691640"/>
            <a:ext cx="17830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Board friendly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Future skills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Student value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Teacher productivity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F8A70"/>
                </a:solidFill>
              </a:defRPr>
            </a:pPr>
            <a:r>
              <a:t>Admissions 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00800"/>
            <a:ext cx="115214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303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14324A"/>
                </a:solidFill>
              </a:rPr>
              <a:t>Final call to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4652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14324A"/>
                </a:solidFill>
              </a:rPr>
              <a:t>Confidential | 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Innovation Partner for Presidency English School, Parbhani</dc:title>
  <dc:subject>Presidency English School proposal</dc:subject>
  <dc:creator>Bluetrace Technologies Pvt. Ltd.</dc:creator>
  <cp:keywords/>
  <dc:description>Generated by Bluetrace proposal generator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